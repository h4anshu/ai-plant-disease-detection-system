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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420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82420"/>
                </a:solidFill>
                <a:latin typeface="Cambria"/>
              </a:rPr>
              <a:t>Test accuracy by crop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B45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BA-4A15-86C4-5C388C9B4567}"/>
              </c:ext>
            </c:extLst>
          </c:dPt>
          <c:dPt>
            <c:idx val="1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BA-4A15-86C4-5C388C9B4567}"/>
              </c:ext>
            </c:extLst>
          </c:dPt>
          <c:dPt>
            <c:idx val="2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BA-4A15-86C4-5C388C9B4567}"/>
              </c:ext>
            </c:extLst>
          </c:dPt>
          <c:dPt>
            <c:idx val="3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BA-4A15-86C4-5C388C9B4567}"/>
              </c:ext>
            </c:extLst>
          </c:dPt>
          <c:dPt>
            <c:idx val="4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BA-4A15-86C4-5C388C9B4567}"/>
              </c:ext>
            </c:extLst>
          </c:dPt>
          <c:dPt>
            <c:idx val="5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BA-4A15-86C4-5C388C9B456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824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Pigeonpea</c:v>
                </c:pt>
                <c:pt idx="1">
                  <c:v>Maize</c:v>
                </c:pt>
                <c:pt idx="2">
                  <c:v>Sugarcane</c:v>
                </c:pt>
                <c:pt idx="3">
                  <c:v>Potato</c:v>
                </c:pt>
                <c:pt idx="4">
                  <c:v>Wheat</c:v>
                </c:pt>
                <c:pt idx="5">
                  <c:v>Rice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79.05</c:v>
                </c:pt>
                <c:pt idx="1">
                  <c:v>94.28</c:v>
                </c:pt>
                <c:pt idx="2">
                  <c:v>92.31</c:v>
                </c:pt>
                <c:pt idx="3">
                  <c:v>98.76</c:v>
                </c:pt>
                <c:pt idx="4">
                  <c:v>99.58</c:v>
                </c:pt>
                <c:pt idx="5">
                  <c:v>99.68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ABA-4A15-86C4-5C388C9B45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2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4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D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05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Project: AI Plant Disease Detection System — CNN-based disease classification with per-image severity estimation and literature-backed yield-loss lookup, covering six Indian field crops.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Six crops, 32 disease classes, 36,848 training images. The point to land: this does not stop at a class label — it ends at a yield-loss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ordering: severity is meaningless without a diagnosis, and the yield figure is meaningless without severity. That dependency chain is why the deck is structured this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fork is the design point: the same image goes down two independent paths. Classification says what the disease is; severity says how far along it is. Neither one depends on the other's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Yellow_Rust finding is the strongest methodological result in the project: a 100% class that Grad-CAM proved was recognising photography style rather than rust. Catching it is the reason Grad-CAM runs on every crop, not just as a visualisation.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spread is not random: it tracks dataset size and class count. Pigeonpea is coloured differently on purpose — flagging the weak point is more credible than averaging it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loud: rejecting datasets was as much work as using them. The mustard set and the Master aggregation would both have inflated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062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 BANARASI DAS UNIVERSITY  ·  SCHOOL OF ENGINEERING, LUCKNOW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Disease Detection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70078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 severity grading and yield-loss estimation for six Indian field crops</a:t>
            </a:r>
            <a:endParaRPr lang="en-US" sz="1500" dirty="0"/>
          </a:p>
        </p:txBody>
      </p:sp>
      <p:pic>
        <p:nvPicPr>
          <p:cNvPr id="5" name="Image 0" descr="C:\Users\H4 Anshu\AppData\Local\Temp\claude\D--AI-Plant-Disease-Detection-System\567b4af3-6299-4ce9-a582-f3e4679edf01\scratchpad\bbd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267712"/>
            <a:ext cx="2286000" cy="2258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846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4865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Mishra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(1230432155)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Anshul Yadav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(1230432157)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Anshuman Mishra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(1230432158)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 Kushwaha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(1230432160)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846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to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2486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Gaurav Kumar Srivastava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Leaf to Loss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15910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Disease Detection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21488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selects the crop, uploads one leaf photograph, and gets back a disease diagnosis, a severity grade, treatment advice and an estimated yield loss — the number that actually drives a decision in the field.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3611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Indian field crops  ·  32 disease classes  ·  built, trained and deployed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960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133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801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0104120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36,848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010412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3483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01041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SCAN</a:t>
            </a:r>
            <a:endParaRPr lang="en-US" sz="950" dirty="0"/>
          </a:p>
        </p:txBody>
      </p:sp>
      <p:pic>
        <p:nvPicPr>
          <p:cNvPr id="15" name="Image 0" descr="C:\Users\H4 Anshu\AppData\Local\Temp\claude\D--AI-Plant-Disease-Detection-System\567b4af3-6299-4ce9-a582-f3e4679edf01\scratchpad\pp_whe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590288"/>
            <a:ext cx="1463040" cy="14630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0525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900" dirty="0"/>
          </a:p>
        </p:txBody>
      </p:sp>
      <p:pic>
        <p:nvPicPr>
          <p:cNvPr id="17" name="Image 1" descr="C:\Users\H4 Anshu\AppData\Local\Temp\claude\D--AI-Plant-Disease-Detection-System\567b4af3-6299-4ce9-a582-f3e4679edf01\scratchpad\pp_ri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4590288"/>
            <a:ext cx="1463040" cy="1463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68833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900" dirty="0"/>
          </a:p>
        </p:txBody>
      </p:sp>
      <p:pic>
        <p:nvPicPr>
          <p:cNvPr id="19" name="Image 2" descr="C:\Users\H4 Anshu\AppData\Local\Temp\claude\D--AI-Plant-Disease-Detection-System\567b4af3-6299-4ce9-a582-f3e4679edf01\scratchpad\pp_sugarca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4590288"/>
            <a:ext cx="1463040" cy="1463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7141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</a:t>
            </a:r>
            <a:endParaRPr lang="en-US" sz="900" dirty="0"/>
          </a:p>
        </p:txBody>
      </p:sp>
      <p:pic>
        <p:nvPicPr>
          <p:cNvPr id="21" name="Image 3" descr="C:\Users\H4 Anshu\AppData\Local\Temp\claude\D--AI-Plant-Disease-Detection-System\567b4af3-6299-4ce9-a582-f3e4679edf01\scratchpad\pp_pota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4590288"/>
            <a:ext cx="1463040" cy="1463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5449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900" dirty="0"/>
          </a:p>
        </p:txBody>
      </p:sp>
      <p:pic>
        <p:nvPicPr>
          <p:cNvPr id="23" name="Image 4" descr="C:\Users\H4 Anshu\AppData\Local\Temp\claude\D--AI-Plant-Disease-Detection-System\567b4af3-6299-4ce9-a582-f3e4679edf01\scratchpad\pp_maiz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4590288"/>
            <a:ext cx="1463040" cy="1463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3757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900" dirty="0"/>
          </a:p>
        </p:txBody>
      </p:sp>
      <p:pic>
        <p:nvPicPr>
          <p:cNvPr id="25" name="Image 5" descr="C:\Users\H4 Anshu\AppData\Local\Temp\claude\D--AI-Plant-Disease-Detection-System\567b4af3-6299-4ce9-a582-f3e4679edf01\scratchpad\pp_pigeonpe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4590288"/>
            <a:ext cx="1463040" cy="1463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2065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PIGEONPEA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AIMS &amp;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class label to a cost estimate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11201400" cy="658368"/>
          </a:xfrm>
          <a:prstGeom prst="roundRect">
            <a:avLst>
              <a:gd name="adj" fmla="val 5556"/>
            </a:avLst>
          </a:prstGeom>
          <a:solidFill>
            <a:srgbClr val="EEF2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— most leaf-disease demos stop at naming the disease. The five objectives below are the pipeline in order: each stage exists because the next one needs its output.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542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disease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81635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leaf photo into the correct disease for the user-selected crop, across 3 to 11 classes depending on the crop.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328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the severity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3602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affected leaf area per image and bin it as early, moderate or severe — computed live from the photo, not looked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model's reasoning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389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Grad-CAM heatmap with every prediction, so a confidence score is never the only evidence the user has.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01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into treatment and cost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51755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crop + disease to advisory text, and crop + disease + severity to a yield-loss percentage from published agronomy literature.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724144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724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extensible and honest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59618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seventh crop by training one head, not the whole model — and tag every estimate with the confidence its source data supports.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frozen backbone, one head per crop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51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34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dropdown + photo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939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122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JWT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upload, routing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79976" y="109728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AE9DE"/>
          </a:solidFill>
          <a:ln w="15875">
            <a:solidFill>
              <a:srgbClr val="B453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8264" y="115214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03a · 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EfficientNetB0, frozen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per-crop Dense head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79976" y="27432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AE9DE"/>
          </a:solidFill>
          <a:ln w="15875">
            <a:solidFill>
              <a:srgbClr val="B453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8264" y="279806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03b · 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 + Otsu leaf mask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median / MAD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659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842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pixels decided 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947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130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+ yield loss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severity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3235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418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response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user history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653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694176" y="153162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94176" y="235458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0176" y="153162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980176" y="235458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661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949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" y="3858768"/>
          <a:ext cx="11658600" cy="2592324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selection &amp; 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Vite 8 · Tailwind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names the crop, so the model never has to guess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5 · Multer · JWT · Cloudinary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Auth, multipart intake, image hosting,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(ImageNet, frozen)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1280-dim embedding reused by all six crops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Dense(128) → Dropout(0.3) → 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head per crop; only the selected crop's head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grading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ExG + Otsu · Lab median / MAD (v4)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 affected leaf area → early / moderate / severe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· TensorFlow · matplotlib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proving the call used lesions, not backgrounds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&amp;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treatmentMap.js · yieldLoss.js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→ treatment text; plus severity → yield-loss 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· Cloud Run · Vercel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history; ML and API scale independently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POTENTIAL CHALLENGES &amp;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 alone does not prove the model is correct</a:t>
            </a:r>
            <a:endParaRPr lang="en-US" sz="3000" dirty="0"/>
          </a:p>
        </p:txBody>
      </p:sp>
      <p:pic>
        <p:nvPicPr>
          <p:cNvPr id="4" name="Image 0" descr="C:\Users\H4 Anshu\AppData\Local\Temp\claude\D--AI-Plant-Disease-Detection-System\567b4af3-6299-4ce9-a582-f3e4679edf01\scratchpad\pp_g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25880"/>
            <a:ext cx="5202936" cy="2377440"/>
          </a:xfrm>
          <a:prstGeom prst="rect">
            <a:avLst/>
          </a:prstGeom>
        </p:spPr>
      </p:pic>
      <p:pic>
        <p:nvPicPr>
          <p:cNvPr id="5" name="Image 1" descr="C:\Users\H4 Anshu\AppData\Local\Temp\claude\D--AI-Plant-Disease-Detection-System\567b4af3-6299-4ce9-a582-f3e4679edf01\scratchpad\pp_b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25880"/>
            <a:ext cx="5202936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" y="3785616"/>
            <a:ext cx="5202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5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BEHAVIOUR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attention settles on the diseased wheat ear, which is the evidence a plant pathologist would use.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3785616"/>
            <a:ext cx="5202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LEARNING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spreads over the whole leaf and its dark studio background, rather than the rust lesions themselves.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4636008"/>
            <a:ext cx="164592" cy="164592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77824" y="45720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the wrong feature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77824" y="481888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wheat class scored 100% by recognising its dataset’s photography, not the disease. Grad-CAM found it before deployment.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5312664"/>
            <a:ext cx="164592" cy="164592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7824" y="52486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validation in the field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77824" y="549554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were captured under controlled conditions. Accuracy on real field photographs has not yet been measured.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989320"/>
            <a:ext cx="164592" cy="164592"/>
          </a:xfrm>
          <a:prstGeom prst="ellipse">
            <a:avLst/>
          </a:prstGeom>
          <a:solidFill>
            <a:srgbClr val="9A741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77824" y="59253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grading is approximate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77824" y="617220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grade agrees with expert assessment 44% of the time. It shows direction, not a clinical measurement.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64224" y="4636008"/>
            <a:ext cx="164592" cy="164592"/>
          </a:xfrm>
          <a:prstGeom prst="ellipse">
            <a:avLst/>
          </a:prstGeom>
          <a:solidFill>
            <a:srgbClr val="9A741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93408" y="45720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Unequal dataset sizes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6693408" y="481888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Pigeonpea has 973 images against wheat’s 16,000, and its accuracy is correspondingly lower at 79%.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64224" y="5312664"/>
            <a:ext cx="164592" cy="164592"/>
          </a:xfrm>
          <a:prstGeom prst="ellipse">
            <a:avLst/>
          </a:prstGeom>
          <a:solidFill>
            <a:srgbClr val="2C5F3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93408" y="52486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loss is literature-based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693408" y="549554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come from published agronomy studies, not a trained model, so they exclude local soil, weather and variety.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FEASIBILITY &amp; VIABILITY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deployed, and inexpensive to extend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2852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sets  ·  pigeonpea marked as the known weak point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31152" y="1371600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311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3350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is inexpensive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6276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processed by the shared network once and its features are stored. Every crop’s classifier then trains in seconds rather than hours.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31152" y="2432304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31152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395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crop is straightforward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seventh crop requires training only one additional classifier. None of the existing six needs to be retrained.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31152" y="3493008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31152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34564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already running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37490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service and the web API run as containers on Google Cloud Run, with the user interface hosted on Vercel.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31152" y="4553712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31152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45171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practical for real use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48097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selects the crop, so the system never has to guess it, and every yield estimate carries a stated confidence rating.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3776" y="5742432"/>
            <a:ext cx="11201400" cy="658368"/>
          </a:xfrm>
          <a:prstGeom prst="roundRect">
            <a:avLst>
              <a:gd name="adj" fmla="val 5556"/>
            </a:avLst>
          </a:prstGeom>
          <a:solidFill>
            <a:srgbClr val="EEF2E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  </a:t>
            </a:r>
            <a:r>
              <a:rPr lang="en-US" sz="125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(Mumbai region)  ·  Vercel  ·  MongoDB Atlas  ·  Cloudinary — the three services scale independently of one another.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RESEARCH &amp;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to a dataset or a paper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Wheat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un-augmented folder · 1,603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Yellow-Rust-19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grades 0/R/MR/MRMS/MS/S · severity validation only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Sethy et al., Rice Leaf Disease (Mendeley)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RiceLeafBD healthy class · 6,184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Sugarcane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11-class, Maharashtra · 6,748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Hughes &amp; Salathé, 2015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subset · 2,152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Corn/Maize Leaf Disease — Kaggle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smaranjitghose · 4,188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Pigeonpea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images · smallest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254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&amp; Le (2019)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EfficientNet: Rethinking Model Scaling for CNNs, ICML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et al. (2017)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Visual Explanations from Deep Networks, ICCV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(1979)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Selection Method from Gray-Level Histograms, IEEE Trans. SMC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Woebbecke et al. (1995)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Indices for Weed Identification, Transactions of the ASAE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 (2009)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A Large-Scale Hierarchical Image Database, CVPR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5644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Agronomy &amp; yield loss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institute publications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loss figures, Indian conditions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loss data — blast, bacterial blight, brown spot, tungro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Agricultural University bulletins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severity-resolved loss ranges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plant pathology studies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no India-specific figure exists · tagged MED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proxies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SCMV for sugarcane Viral_Disease; Alternaria for pigeonpea Leaf_Spot · tagged 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5128"/>
            </a:avLst>
          </a:prstGeom>
          <a:solidFill>
            <a:srgbClr val="1E34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5321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on the record   </a:t>
            </a:r>
            <a:r>
              <a:rPr lang="en-US" sz="105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Plant Disease Dataset (overlaps existing sources) · two sugarcane sets (taxonomy conflict, suspected pre-augmentation) · pre-augmented and pre-split folders (train–test leakage) · the mustard set that carried Indonesian fruit-ripeness labels.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THANK YOU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93776" y="2404872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71272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 severity grading and yield-loss estimation for six Indian field crops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5128"/>
            </a:avLst>
          </a:prstGeom>
          <a:solidFill>
            <a:srgbClr val="1E34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5321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 </a:t>
            </a:r>
            <a:r>
              <a:rPr lang="en-US" sz="1300" dirty="0">
                <a:solidFill>
                  <a:srgbClr val="D4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Mishra · Anshul Yadav · Anshuman Mishra · Anu Kushwaha       Guided by Mr. Gaurav Kumar Srivastava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1493</Words>
  <Application>Microsoft Office PowerPoint</Application>
  <PresentationFormat>Widescreen</PresentationFormat>
  <Paragraphs>194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Leaf to Loss</dc:title>
  <dc:subject>PptxGenJS Presentation</dc:subject>
  <dc:creator>AI Plant Disease Detection System</dc:creator>
  <cp:lastModifiedBy>ranDomuse458@gmail.com</cp:lastModifiedBy>
  <cp:revision>2</cp:revision>
  <dcterms:created xsi:type="dcterms:W3CDTF">2026-09-06T15:55:44Z</dcterms:created>
  <dcterms:modified xsi:type="dcterms:W3CDTF">2026-09-06T16:00:56Z</dcterms:modified>
</cp:coreProperties>
</file>