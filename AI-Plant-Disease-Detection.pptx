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  <Relationship Id="rId14" Type="http://schemas.openxmlformats.org/officeDocument/2006/relationships/slide" Target="slides/slide8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82420"/>
                </a:solidFill>
                <a:latin typeface="Cambria"/>
              </a:defRPr>
            </a:pPr>
            <a:r>
              <a:rPr lang="en-IN" sz="1300" b="0" i="0" u="none" strike="noStrike">
                <a:solidFill>
                  <a:srgbClr val="182420"/>
                </a:solidFill>
                <a:latin typeface="Cambria"/>
              </a:rPr>
              <a:t>Test accuracy by crop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</c:v>
                </c:pt>
              </c:strCache>
            </c:strRef>
          </c:tx>
          <c:spPr>
            <a:solidFill>
              <a:srgbClr val="B4531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ABA-4A15-86C4-5C388C9B4567}"/>
              </c:ext>
            </c:extLst>
          </c:dPt>
          <c:dPt>
            <c:idx val="1"/>
            <c:invertIfNegative val="0"/>
            <c:bubble3D val="0"/>
            <c:spPr>
              <a:solidFill>
                <a:srgbClr val="2C5F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ABA-4A15-86C4-5C388C9B4567}"/>
              </c:ext>
            </c:extLst>
          </c:dPt>
          <c:dPt>
            <c:idx val="2"/>
            <c:invertIfNegative val="0"/>
            <c:bubble3D val="0"/>
            <c:spPr>
              <a:solidFill>
                <a:srgbClr val="2C5F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ABA-4A15-86C4-5C388C9B4567}"/>
              </c:ext>
            </c:extLst>
          </c:dPt>
          <c:dPt>
            <c:idx val="3"/>
            <c:invertIfNegative val="0"/>
            <c:bubble3D val="0"/>
            <c:spPr>
              <a:solidFill>
                <a:srgbClr val="2C5F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ABA-4A15-86C4-5C388C9B4567}"/>
              </c:ext>
            </c:extLst>
          </c:dPt>
          <c:dPt>
            <c:idx val="4"/>
            <c:invertIfNegative val="0"/>
            <c:bubble3D val="0"/>
            <c:spPr>
              <a:solidFill>
                <a:srgbClr val="2C5F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ABA-4A15-86C4-5C388C9B4567}"/>
              </c:ext>
            </c:extLst>
          </c:dPt>
          <c:dPt>
            <c:idx val="5"/>
            <c:invertIfNegative val="0"/>
            <c:bubble3D val="0"/>
            <c:spPr>
              <a:solidFill>
                <a:srgbClr val="2C5F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ABA-4A15-86C4-5C388C9B4567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8242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Pigeonpea</c:v>
                </c:pt>
                <c:pt idx="1">
                  <c:v>Maize</c:v>
                </c:pt>
                <c:pt idx="2">
                  <c:v>Sugarcane</c:v>
                </c:pt>
                <c:pt idx="3">
                  <c:v>Potato</c:v>
                </c:pt>
                <c:pt idx="4">
                  <c:v>Wheat</c:v>
                </c:pt>
                <c:pt idx="5">
                  <c:v>Rice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79.05</c:v>
                </c:pt>
                <c:pt idx="1">
                  <c:v>94.28</c:v>
                </c:pt>
                <c:pt idx="2">
                  <c:v>92.31</c:v>
                </c:pt>
                <c:pt idx="3">
                  <c:v>98.76</c:v>
                </c:pt>
                <c:pt idx="4">
                  <c:v>99.58</c:v>
                </c:pt>
                <c:pt idx="5">
                  <c:v>99.68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7ABA-4A15-86C4-5C388C9B45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242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4E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C6D6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8050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Project: AI Plant Disease Detection System — CNN-based disease classification with per-image severity estimation and literature-backed yield-loss lookup, covering six Indian field crops.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frame. Six crops, 32 disease classes, 36,848 training images. The point to land: this does not stop at a class label — it ends at a yield-loss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ordering: severity is meaningless without a diagnosis, and the yield figure is meaningless without severity. That dependency chain is why the deck is structured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fork is the design point: the same image goes down two independent paths. Classification says what the disease is; severity says how far along it is. Neither one depends on the other's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Yellow_Rust finding is the strongest methodological result in the project: a 100% class that Grad-CAM proved was recognising photography style rather than rust. Catching it is the reason Grad-CAM runs on every crop, not just as a visualisation.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accuracy spread is not random: it tracks dataset size and class count. Pigeonpea is coloured differently on purpose — flagging the weak point is more credible than averaging it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out loud: rejecting datasets was as much work as using them. The mustard set and the Master aggregation would both have inflated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2062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BABU BANARASI DAS UNIVERSITY  ·  SCHOOL OF ENGINEERING, LUCKNOW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Plant Disease Detection System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700784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diagnosis, severity grading and yield-loss estimation for six Indian field crops</a:t>
            </a:r>
            <a:endParaRPr lang="en-US" sz="1500" dirty="0"/>
          </a:p>
        </p:txBody>
      </p:sp>
      <p:pic>
        <p:nvPicPr>
          <p:cNvPr id="5" name="Image 0" descr="C:\Users\H4 Anshu\AppData\Local\Temp\claude\D--AI-Plant-Disease-Detection-System\567b4af3-6299-4ce9-a582-f3e4679edf01\scratchpad\bbd_logo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2267712"/>
            <a:ext cx="2286000" cy="22585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484632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Presented by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248656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Anshu Mishra</a:t>
            </a:r>
            <a:r>
              <a:rPr lang="en-US" sz="14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(1230432155)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18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Anshul Yadav</a:t>
            </a:r>
            <a:r>
              <a:rPr lang="en-US" sz="14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(1230432157)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Anshuman Mishra</a:t>
            </a:r>
            <a:r>
              <a:rPr lang="en-US" sz="14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(1230432158)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 Kushwaha</a:t>
            </a:r>
            <a:r>
              <a:rPr lang="en-US" sz="14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(1230432160)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48463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Presented to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524865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Gaurav Kumar Srivastava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5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3776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B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13232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Leaf to Loss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493776" y="159105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B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Plant Disease Detection System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93776" y="214884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farmer selects the crop, uploads one leaf photograph, and gets back a disease diagnosis, a severity grade, treatment advice and an estimated yield loss — the number that actually drives a decision in the field.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93776" y="36118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B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Indian field crops  ·  32 disease classes  ·  built, trained and deployed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909560" y="9601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DB7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1338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COVERED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180136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DB7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10104120" y="1975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CLASSES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90956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DB7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36,848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10104120" y="2816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IMAGES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909560" y="348386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DB7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10104120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PER SCAN</a:t>
            </a:r>
            <a:endParaRPr lang="en-US" sz="950" dirty="0"/>
          </a:p>
        </p:txBody>
      </p:sp>
      <p:pic>
        <p:nvPicPr>
          <p:cNvPr id="15" name="Image 0" descr="C:\Users\H4 Anshu\AppData\Local\Temp\claude\D--AI-Plant-Disease-Detection-System\567b4af3-6299-4ce9-a582-f3e4679edf01\scratchpad\pp_whe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4590288"/>
            <a:ext cx="1463040" cy="146304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05256" y="6126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</a:t>
            </a:r>
            <a:endParaRPr lang="en-US" sz="900" dirty="0"/>
          </a:p>
        </p:txBody>
      </p:sp>
      <p:pic>
        <p:nvPicPr>
          <p:cNvPr id="17" name="Image 1" descr="C:\Users\H4 Anshu\AppData\Local\Temp\claude\D--AI-Plant-Disease-Detection-System\567b4af3-6299-4ce9-a582-f3e4679edf01\scratchpad\pp_ri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8336" y="4590288"/>
            <a:ext cx="1463040" cy="1463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688336" y="6126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</a:t>
            </a:r>
            <a:endParaRPr lang="en-US" sz="900" dirty="0"/>
          </a:p>
        </p:txBody>
      </p:sp>
      <p:pic>
        <p:nvPicPr>
          <p:cNvPr id="19" name="Image 2" descr="C:\Users\H4 Anshu\AppData\Local\Temp\claude\D--AI-Plant-Disease-Detection-System\567b4af3-6299-4ce9-a582-f3e4679edf01\scratchpad\pp_sugarca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4590288"/>
            <a:ext cx="1463040" cy="146304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471416" y="6126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SUGARCANE</a:t>
            </a:r>
            <a:endParaRPr lang="en-US" sz="900" dirty="0"/>
          </a:p>
        </p:txBody>
      </p:sp>
      <p:pic>
        <p:nvPicPr>
          <p:cNvPr id="21" name="Image 3" descr="C:\Users\H4 Anshu\AppData\Local\Temp\claude\D--AI-Plant-Disease-Detection-System\567b4af3-6299-4ce9-a582-f3e4679edf01\scratchpad\pp_pota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4590288"/>
            <a:ext cx="1463040" cy="1463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54496" y="6126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</a:t>
            </a:r>
            <a:endParaRPr lang="en-US" sz="900" dirty="0"/>
          </a:p>
        </p:txBody>
      </p:sp>
      <p:pic>
        <p:nvPicPr>
          <p:cNvPr id="23" name="Image 4" descr="C:\Users\H4 Anshu\AppData\Local\Temp\claude\D--AI-Plant-Disease-Detection-System\567b4af3-6299-4ce9-a582-f3e4679edf01\scratchpad\pp_maiz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7576" y="4590288"/>
            <a:ext cx="1463040" cy="14630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037576" y="6126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MAIZE</a:t>
            </a:r>
            <a:endParaRPr lang="en-US" sz="900" dirty="0"/>
          </a:p>
        </p:txBody>
      </p:sp>
      <p:pic>
        <p:nvPicPr>
          <p:cNvPr id="25" name="Image 5" descr="C:\Users\H4 Anshu\AppData\Local\Temp\claude\D--AI-Plant-Disease-Detection-System\567b4af3-6299-4ce9-a582-f3e4679edf01\scratchpad\pp_pigeonpe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0656" y="4590288"/>
            <a:ext cx="1463040" cy="146304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820656" y="6126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PIGEONPEA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3776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AIMS &amp; OBJECTIVES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class label to a cost estimate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591056"/>
            <a:ext cx="11201400" cy="658368"/>
          </a:xfrm>
          <a:prstGeom prst="roundRect">
            <a:avLst>
              <a:gd name="adj" fmla="val 5556"/>
            </a:avLst>
          </a:prstGeom>
          <a:solidFill>
            <a:srgbClr val="EEF2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91056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8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— most leaf-disease demos stop at naming the disease. The five objectives below are the pipeline in order: each stage exists because the next one needs its output.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402336" cy="40233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578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254203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 the disease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281635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 leaf photo into the correct disease for the user-selected crop, across 3 to 11 classes depending on the crop.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364992"/>
            <a:ext cx="402336" cy="40233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332841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the severity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3602736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affected leaf area per image and bin it as early, moderate or severe — computed live from the photo, not looked up.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51376"/>
            <a:ext cx="402336" cy="40233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4114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the model's reasoning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" y="438912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 Grad-CAM heatmap with every prediction, so a confidence score is never the only evidence the user has.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937760"/>
            <a:ext cx="402336" cy="40233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490118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into treatment and cost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33856" y="51755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crop + disease to advisory text, and crop + disease + severity to a yield-loss percentage from published agronomy literature.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5724144"/>
            <a:ext cx="402336" cy="40233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724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568756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extensible and honest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33856" y="596188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seventh crop by training one head, not the whole model — and tag every estimate with the confidence its source data supports.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3776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TECHNICAL APPROACH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frozen backbone, one head per crop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65176" y="1920240"/>
            <a:ext cx="1600200" cy="868680"/>
          </a:xfrm>
          <a:prstGeom prst="roundRect">
            <a:avLst>
              <a:gd name="adj" fmla="val 5263"/>
            </a:avLst>
          </a:prstGeom>
          <a:solidFill>
            <a:srgbClr val="EEF2EC"/>
          </a:solidFill>
          <a:ln w="12700">
            <a:solidFill>
              <a:srgbClr val="C9D4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83464" y="1975104"/>
            <a:ext cx="15636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8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dropdown + photo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093976" y="1920240"/>
            <a:ext cx="1600200" cy="868680"/>
          </a:xfrm>
          <a:prstGeom prst="roundRect">
            <a:avLst>
              <a:gd name="adj" fmla="val 5263"/>
            </a:avLst>
          </a:prstGeom>
          <a:solidFill>
            <a:srgbClr val="EEF2EC"/>
          </a:solidFill>
          <a:ln w="12700">
            <a:solidFill>
              <a:srgbClr val="C9D4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12264" y="1975104"/>
            <a:ext cx="15636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8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 · JWT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upload, routing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379976" y="1097280"/>
            <a:ext cx="1600200" cy="868680"/>
          </a:xfrm>
          <a:prstGeom prst="roundRect">
            <a:avLst>
              <a:gd name="adj" fmla="val 5263"/>
            </a:avLst>
          </a:prstGeom>
          <a:solidFill>
            <a:srgbClr val="FAE9DE"/>
          </a:solidFill>
          <a:ln w="15875">
            <a:solidFill>
              <a:srgbClr val="B453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98264" y="1152144"/>
            <a:ext cx="15636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03a · PARALLEL</a:t>
            </a:r>
            <a:endParaRPr lang="en-US" sz="8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EfficientNetB0, frozen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per-crop Dense head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379976" y="2743200"/>
            <a:ext cx="1600200" cy="868680"/>
          </a:xfrm>
          <a:prstGeom prst="roundRect">
            <a:avLst>
              <a:gd name="adj" fmla="val 5263"/>
            </a:avLst>
          </a:prstGeom>
          <a:solidFill>
            <a:srgbClr val="FAE9DE"/>
          </a:solidFill>
          <a:ln w="15875">
            <a:solidFill>
              <a:srgbClr val="B453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98264" y="2798064"/>
            <a:ext cx="15636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03b · PARALLEL</a:t>
            </a:r>
            <a:endParaRPr lang="en-US" sz="8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ExG + Otsu leaf mask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median / MAD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665976" y="1920240"/>
            <a:ext cx="1600200" cy="868680"/>
          </a:xfrm>
          <a:prstGeom prst="roundRect">
            <a:avLst>
              <a:gd name="adj" fmla="val 5263"/>
            </a:avLst>
          </a:prstGeom>
          <a:solidFill>
            <a:srgbClr val="EEF2EC"/>
          </a:solidFill>
          <a:ln w="12700">
            <a:solidFill>
              <a:srgbClr val="C9D4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84264" y="1975104"/>
            <a:ext cx="15636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04</a:t>
            </a:r>
            <a:endParaRPr lang="en-US" sz="8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overlay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pixels decided it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494776" y="1920240"/>
            <a:ext cx="1600200" cy="868680"/>
          </a:xfrm>
          <a:prstGeom prst="roundRect">
            <a:avLst>
              <a:gd name="adj" fmla="val 5263"/>
            </a:avLst>
          </a:prstGeom>
          <a:solidFill>
            <a:srgbClr val="EEF2EC"/>
          </a:solidFill>
          <a:ln w="12700">
            <a:solidFill>
              <a:srgbClr val="C9D4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13064" y="1975104"/>
            <a:ext cx="15636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05</a:t>
            </a:r>
            <a:endParaRPr lang="en-US" sz="8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Quantify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+ yield loss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severity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0323576" y="1920240"/>
            <a:ext cx="1600200" cy="868680"/>
          </a:xfrm>
          <a:prstGeom prst="roundRect">
            <a:avLst>
              <a:gd name="adj" fmla="val 5263"/>
            </a:avLst>
          </a:prstGeom>
          <a:solidFill>
            <a:srgbClr val="EEF2EC"/>
          </a:solidFill>
          <a:ln w="12700">
            <a:solidFill>
              <a:srgbClr val="C9D4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41864" y="1975104"/>
            <a:ext cx="15636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06</a:t>
            </a:r>
            <a:endParaRPr lang="en-US" sz="8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JSON response</a:t>
            </a:r>
            <a:endParaRPr lang="en-US" sz="8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user history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65376" y="2354580"/>
            <a:ext cx="228600" cy="0"/>
          </a:xfrm>
          <a:prstGeom prst="line">
            <a:avLst/>
          </a:prstGeom>
          <a:noFill/>
          <a:ln w="19050">
            <a:solidFill>
              <a:srgbClr val="8A9A8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V="1">
            <a:off x="3694176" y="1531620"/>
            <a:ext cx="685800" cy="822960"/>
          </a:xfrm>
          <a:prstGeom prst="line">
            <a:avLst/>
          </a:prstGeom>
          <a:noFill/>
          <a:ln w="19050">
            <a:solidFill>
              <a:srgbClr val="8A9A8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694176" y="2354580"/>
            <a:ext cx="685800" cy="822960"/>
          </a:xfrm>
          <a:prstGeom prst="line">
            <a:avLst/>
          </a:prstGeom>
          <a:noFill/>
          <a:ln w="19050">
            <a:solidFill>
              <a:srgbClr val="8A9A8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980176" y="1531620"/>
            <a:ext cx="685800" cy="822960"/>
          </a:xfrm>
          <a:prstGeom prst="line">
            <a:avLst/>
          </a:prstGeom>
          <a:noFill/>
          <a:ln w="19050">
            <a:solidFill>
              <a:srgbClr val="8A9A8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5980176" y="2354580"/>
            <a:ext cx="685800" cy="822960"/>
          </a:xfrm>
          <a:prstGeom prst="line">
            <a:avLst/>
          </a:prstGeom>
          <a:noFill/>
          <a:ln w="19050">
            <a:solidFill>
              <a:srgbClr val="8A9A8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266176" y="2354580"/>
            <a:ext cx="228600" cy="0"/>
          </a:xfrm>
          <a:prstGeom prst="line">
            <a:avLst/>
          </a:prstGeom>
          <a:noFill/>
          <a:ln w="19050">
            <a:solidFill>
              <a:srgbClr val="8A9A8E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094976" y="2354580"/>
            <a:ext cx="228600" cy="0"/>
          </a:xfrm>
          <a:prstGeom prst="line">
            <a:avLst/>
          </a:prstGeom>
          <a:noFill/>
          <a:ln w="19050">
            <a:solidFill>
              <a:srgbClr val="8A9A8E"/>
            </a:solidFill>
            <a:prstDash val="solid"/>
            <a:tailEnd type="triangle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" y="3858768"/>
          <a:ext cx="11658600" cy="2592324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kern="0" spc="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kern="0" spc="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kern="0" spc="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8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Crop selection &amp; upload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453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· Vite 8 · Tailwind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C6D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Farmer names the crop, so the model never has to guess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8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handling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453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5 · Multer · JWT · Cloudinary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C6D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Auth, multipart intake, image hosting, orchestration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8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extraction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453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EfficientNetB0 (ImageNet, frozen)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C6D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shared 1280-dim embedding reused by all six crops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8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453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Dense(128) → Dropout(0.3) → Softmax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C6D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small head per crop; only the selected crop's head runs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8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 grading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453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ExG + Otsu · Lab median / MAD (v4)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C6D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 affected leaf area → early / moderate / severe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8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453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Grad-CAM · TensorFlow · matplotlib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C6D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Heatmap proving the call used lesions, not backgrounds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8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Advisory &amp; 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453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treatmentMap.js · yieldLoss.js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C6D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 → treatment text; plus severity → yield-loss percent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8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&amp; deploy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453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Atlas · Cloud Run · Vercel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C6D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Per-user history; ML and API scale independently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3776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POTENTIAL CHALLENGES &amp;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accuracy alone does not prove the model is correct</a:t>
            </a:r>
            <a:endParaRPr lang="en-US" sz="3000" dirty="0"/>
          </a:p>
        </p:txBody>
      </p:sp>
      <p:pic>
        <p:nvPicPr>
          <p:cNvPr id="4" name="Image 0" descr="C:\Users\H4 Anshu\AppData\Local\Temp\claude\D--AI-Plant-Disease-Detection-System\567b4af3-6299-4ce9-a582-f3e4679edf01\scratchpad\pp_goo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325880"/>
            <a:ext cx="5202936" cy="2377440"/>
          </a:xfrm>
          <a:prstGeom prst="rect">
            <a:avLst/>
          </a:prstGeom>
        </p:spPr>
      </p:pic>
      <p:pic>
        <p:nvPicPr>
          <p:cNvPr id="5" name="Image 1" descr="C:\Users\H4 Anshu\AppData\Local\Temp\claude\D--AI-Plant-Disease-Detection-System\567b4af3-6299-4ce9-a582-f3e4679edf01\scratchpad\pp_ba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25880"/>
            <a:ext cx="5202936" cy="2377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93776" y="3785616"/>
            <a:ext cx="5202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C5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BEHAVIOUR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model’s attention settles on the diseased wheat ear, which is the evidence a plant pathologist would use.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309360" y="3785616"/>
            <a:ext cx="5202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SHORTCUT LEARNING</a:t>
            </a:r>
            <a:endParaRPr lang="en-US" sz="1100" dirty="0"/>
          </a:p>
          <a:p>
            <a:pPr marL="0" indent="0">
              <a:buNone/>
            </a:pPr>
            <a:r>
              <a:rPr lang="en-US" sz="12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spreads over the whole leaf and its dark studio background, rather than the rust lesions themselves.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4636008"/>
            <a:ext cx="164592" cy="164592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77824" y="45720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the wrong feature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77824" y="481888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wheat class scored 100% by recognising its dataset’s photography, not the disease. Grad-CAM found it before deployment.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48640" y="5312664"/>
            <a:ext cx="164592" cy="164592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77824" y="524865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validation in the field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77824" y="549554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images were captured under controlled conditions. Accuracy on real field photographs has not yet been measured.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5989320"/>
            <a:ext cx="164592" cy="164592"/>
          </a:xfrm>
          <a:prstGeom prst="ellipse">
            <a:avLst/>
          </a:prstGeom>
          <a:solidFill>
            <a:srgbClr val="9A741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77824" y="592531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Severity grading is approximate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77824" y="617220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automated grade agrees with expert assessment 44% of the time. It shows direction, not a clinical measurement.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364224" y="4636008"/>
            <a:ext cx="164592" cy="164592"/>
          </a:xfrm>
          <a:prstGeom prst="ellipse">
            <a:avLst/>
          </a:prstGeom>
          <a:solidFill>
            <a:srgbClr val="9A741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93408" y="45720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Unequal dataset sizes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6693408" y="481888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Pigeonpea has 973 images against wheat’s 16,000, and its accuracy is correspondingly lower at 79%.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364224" y="5312664"/>
            <a:ext cx="164592" cy="164592"/>
          </a:xfrm>
          <a:prstGeom prst="ellipse">
            <a:avLst/>
          </a:prstGeom>
          <a:solidFill>
            <a:srgbClr val="2C5F3E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693408" y="524865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 loss is literature-based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6693408" y="549554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come from published agronomy studies, not a trained model, so they exclude local soil, weather and variety.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3776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—  FEASIBILITY &amp; VIABILITY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deployed, and inexpensive to extend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325880"/>
          <a:ext cx="630936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28523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sets  ·  pigeonpea marked as the known weak point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931152" y="1371600"/>
            <a:ext cx="329184" cy="329184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31152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33502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is inexpensive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62763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image is processed by the shared network once and its features are stored. Every crop’s classifier then trains in seconds rather than hours.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31152" y="2432304"/>
            <a:ext cx="329184" cy="329184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931152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23957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crop is straightforward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2688336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seventh crop requires training only one additional classifier. None of the existing six needs to be retrained.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31152" y="3493008"/>
            <a:ext cx="329184" cy="329184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31152" y="3493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3456432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system is already running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0" y="3749040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inference service and the web API run as containers on Google Cloud Run, with the user interface hosted on Vercel.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931152" y="4553712"/>
            <a:ext cx="329184" cy="329184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31152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0" y="451713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practical for real use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406640" y="4809744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selects the crop, so the system never has to guess it, and every yield estimate carries a stated confidence rating.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3776" y="5742432"/>
            <a:ext cx="11201400" cy="658368"/>
          </a:xfrm>
          <a:prstGeom prst="roundRect">
            <a:avLst>
              <a:gd name="adj" fmla="val 5556"/>
            </a:avLst>
          </a:prstGeom>
          <a:solidFill>
            <a:srgbClr val="EEF2E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7240" y="574243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B45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  </a:t>
            </a:r>
            <a:r>
              <a:rPr lang="en-US" sz="1250" dirty="0">
                <a:solidFill>
                  <a:srgbClr val="18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 (Mumbai region)  ·  Vercel  ·  MongoDB Atlas  ·  Cloudinary — the three services scale independently of one another.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5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3776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B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—  RESEARCH &amp; REFERENCES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traces to a dataset or a paper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399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01952"/>
            <a:ext cx="3529584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Mendeley Wheat Leaf Disease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un-augmented folder · 1,603 images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Yellow-Rust-19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grades 0/R/MR/MRMS/MS/S · severity validation only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Sethy et al., Rice Leaf Disease (Mendeley)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RiceLeafBD healthy class · 6,184 images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Mendeley Sugarcane Leaf Disease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11-class, Maharashtra · 6,748 images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PlantVillage — Hughes &amp; Salathé, 2015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 subset · 2,152 images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Corn/Maize Leaf Disease — Kaggle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smaranjitghose · 4,188 images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Mendeley Pigeonpea Leaf Disease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973 images · smallest set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52544" y="1417320"/>
            <a:ext cx="310896" cy="31089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5254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773168" y="1399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352544" y="1901952"/>
            <a:ext cx="3529584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&amp; Le (2019)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EfficientNet: Rethinking Model Scaling for CNNs, ICML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Selvaraju et al. (2017)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Grad-CAM: Visual Explanations from Deep Networks, ICCV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Otsu (1979)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Threshold Selection Method from Gray-Level Histograms, IEEE Trans. SMC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Woebbecke et al. (1995)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Indices for Weed Identification, Transactions of the ASAE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 et al. (2009)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ImageNet: A Large-Scale Hierarchical Image Database, CVPR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56448" y="1417320"/>
            <a:ext cx="310896" cy="31089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5644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577072" y="1399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Agronomy &amp; yield loss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156448" y="1901952"/>
            <a:ext cx="3529584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ICAR institute publications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crop-specific loss figures, Indian conditions · tagged HIGH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loss data — blast, bacterial blight, brown spot, tungro · tagged HIGH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Agricultural University bulletins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severity-resolved loss ranges · tagged HIGH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 plant pathology studies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where no India-specific figure exists · tagged MED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proxies</a:t>
            </a:r>
            <a:endParaRPr lang="en-US" sz="10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9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SCMV for sugarcane Viral_Disease; Alternaria for pigeonpea Leaf_Spot · tagged LOW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5532120"/>
            <a:ext cx="11091672" cy="713232"/>
          </a:xfrm>
          <a:prstGeom prst="roundRect">
            <a:avLst>
              <a:gd name="adj" fmla="val 5128"/>
            </a:avLst>
          </a:prstGeom>
          <a:solidFill>
            <a:srgbClr val="1E34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532120"/>
            <a:ext cx="10561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DB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on the record   </a:t>
            </a:r>
            <a:r>
              <a:rPr lang="en-US" sz="105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Plant Disease Dataset (overlaps existing sources) · two sugarcane sets (taxonomy conflict, suspected pre-augmentation) · pre-augmented and pre-split folders (train–test leakage) · the mustard set that carried Indonesian fruit-ripeness labels.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5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3776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B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THANK YOU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93776" y="2404872"/>
            <a:ext cx="310896" cy="310896"/>
          </a:xfrm>
          <a:prstGeom prst="ellipse">
            <a:avLst/>
          </a:prstGeom>
          <a:solidFill>
            <a:srgbClr val="B4531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712720"/>
            <a:ext cx="11247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023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diagnosis, severity grading and yield-loss estimation for six Indian field crops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526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welcome.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532120"/>
            <a:ext cx="11091672" cy="713232"/>
          </a:xfrm>
          <a:prstGeom prst="roundRect">
            <a:avLst>
              <a:gd name="adj" fmla="val 5128"/>
            </a:avLst>
          </a:prstGeom>
          <a:solidFill>
            <a:srgbClr val="1E342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532120"/>
            <a:ext cx="10561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DB7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   </a:t>
            </a:r>
            <a:r>
              <a:rPr lang="en-US" sz="1050" dirty="0">
                <a:solidFill>
                  <a:srgbClr val="9DB0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Anshu Mishra · Anshul Yadav · Anshuman Mishra · Anu Kushwaha       Guided by Mr. Gaurav Kumar Srivastava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1493</Words>
  <Application>Microsoft Office PowerPoint</Application>
  <PresentationFormat>Widescreen</PresentationFormat>
  <Paragraphs>194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Leaf to Loss</dc:title>
  <dc:subject>PptxGenJS Presentation</dc:subject>
  <dc:creator>AI Plant Disease Detection System</dc:creator>
  <cp:lastModifiedBy>ranDomuse458@gmail.com</cp:lastModifiedBy>
  <cp:revision>2</cp:revision>
  <dcterms:created xsi:type="dcterms:W3CDTF">2026-09-06T15:55:44Z</dcterms:created>
  <dcterms:modified xsi:type="dcterms:W3CDTF">2026-09-06T16:00:56Z</dcterms:modified>
</cp:coreProperties>
</file>